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0" r:id="rId4"/>
    <p:sldId id="262" r:id="rId5"/>
    <p:sldId id="264" r:id="rId6"/>
    <p:sldId id="265" r:id="rId7"/>
    <p:sldId id="266" r:id="rId8"/>
    <p:sldId id="267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55" d="100"/>
          <a:sy n="55" d="100"/>
        </p:scale>
        <p:origin x="109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A4DA8-B55D-4727-BD7E-23E2D2CB30B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RESTAURANT SALES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253C55-0A8B-4D32-849A-4400E2B504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b="1" dirty="0"/>
              <a:t>USING SQL</a:t>
            </a:r>
          </a:p>
        </p:txBody>
      </p:sp>
    </p:spTree>
    <p:extLst>
      <p:ext uri="{BB962C8B-B14F-4D97-AF65-F5344CB8AC3E}">
        <p14:creationId xmlns:p14="http://schemas.microsoft.com/office/powerpoint/2010/main" val="2781272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04704-DA40-4478-8FF8-E2ED9879F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CB329D-46A3-4A6D-B2E9-FF96E1DE56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OBJECTIVES</a:t>
            </a:r>
          </a:p>
          <a:p>
            <a:pPr marL="0" indent="0">
              <a:buNone/>
            </a:pPr>
            <a:r>
              <a:rPr lang="en-GB" dirty="0" err="1"/>
              <a:t>Analyze</a:t>
            </a:r>
            <a:r>
              <a:rPr lang="en-GB" dirty="0"/>
              <a:t> Restaurant Sales Data Using SQL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GOALS</a:t>
            </a:r>
          </a:p>
          <a:p>
            <a:pPr marL="0" indent="0">
              <a:buNone/>
            </a:pPr>
            <a:r>
              <a:rPr lang="en-GB" dirty="0"/>
              <a:t>Understand sales trends</a:t>
            </a:r>
          </a:p>
          <a:p>
            <a:pPr marL="0" indent="0">
              <a:buNone/>
            </a:pPr>
            <a:r>
              <a:rPr lang="en-GB" dirty="0"/>
              <a:t>Identify top-selling items</a:t>
            </a:r>
          </a:p>
          <a:p>
            <a:pPr marL="0" indent="0">
              <a:buNone/>
            </a:pPr>
            <a:r>
              <a:rPr lang="en-GB" dirty="0" err="1"/>
              <a:t>Analyze</a:t>
            </a:r>
            <a:r>
              <a:rPr lang="en-GB" dirty="0"/>
              <a:t> revenue and customer </a:t>
            </a:r>
            <a:r>
              <a:rPr lang="en-GB" dirty="0" err="1"/>
              <a:t>behavior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15056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6BE7B-9F9A-4EE5-9602-30E10D4C9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1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C77D61-5422-46A6-A371-B0F77D70B3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--1. View the </a:t>
            </a:r>
            <a:r>
              <a:rPr lang="en-GB" dirty="0" err="1"/>
              <a:t>menu_items</a:t>
            </a:r>
            <a:r>
              <a:rPr lang="en-GB" dirty="0"/>
              <a:t> table and write a query to find the number of items on the menu</a:t>
            </a:r>
            <a:br>
              <a:rPr lang="en-GB" dirty="0"/>
            </a:br>
            <a:br>
              <a:rPr lang="en-GB" dirty="0"/>
            </a:br>
            <a:r>
              <a:rPr lang="en-GB" dirty="0"/>
              <a:t>SELECT COUNT(*) AS </a:t>
            </a:r>
            <a:r>
              <a:rPr lang="en-GB" dirty="0" err="1"/>
              <a:t>number_of_items</a:t>
            </a:r>
            <a:br>
              <a:rPr lang="en-GB" dirty="0"/>
            </a:br>
            <a:r>
              <a:rPr lang="en-GB" dirty="0"/>
              <a:t>FROM </a:t>
            </a:r>
            <a:r>
              <a:rPr lang="en-GB" dirty="0" err="1"/>
              <a:t>menu_items</a:t>
            </a:r>
            <a:endParaRPr lang="en-GB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41C0C4-EA3B-49AA-BC88-5E759DA9D8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3985" y="3938523"/>
            <a:ext cx="2362530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0994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7D91B-3872-43B3-86F0-2D709FF4E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2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D123F1-48C6-44CD-8DBD-4EBF110A8B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39372" y="1972703"/>
            <a:ext cx="8281077" cy="576262"/>
          </a:xfrm>
        </p:spPr>
        <p:txBody>
          <a:bodyPr/>
          <a:lstStyle/>
          <a:p>
            <a:pPr lvl="0">
              <a:buClr>
                <a:srgbClr val="A53010"/>
              </a:buClr>
            </a:pPr>
            <a:r>
              <a:rPr lang="en-GB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--2. What are the least and most expensive items on the menu?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7AB3BD-612C-47EA-A45F-A26E6F0FFC2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--most expensive item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SELECT </a:t>
            </a:r>
            <a:r>
              <a:rPr lang="en-GB" dirty="0" err="1"/>
              <a:t>item_name</a:t>
            </a:r>
            <a:r>
              <a:rPr lang="en-GB" dirty="0"/>
              <a:t>, price</a:t>
            </a:r>
          </a:p>
          <a:p>
            <a:pPr marL="0" indent="0">
              <a:buNone/>
            </a:pPr>
            <a:r>
              <a:rPr lang="en-GB" dirty="0"/>
              <a:t>FROM </a:t>
            </a:r>
            <a:r>
              <a:rPr lang="en-GB" dirty="0" err="1"/>
              <a:t>menu_items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ORDER BY price DESC</a:t>
            </a:r>
          </a:p>
          <a:p>
            <a:pPr marL="0" indent="0">
              <a:buNone/>
            </a:pPr>
            <a:r>
              <a:rPr lang="en-GB" dirty="0"/>
              <a:t>LIMIT 1</a:t>
            </a:r>
          </a:p>
          <a:p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50E8A8-F29E-47CD-8704-311A6EFE4C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--least expensive item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SELECT </a:t>
            </a:r>
            <a:r>
              <a:rPr lang="en-GB" dirty="0" err="1"/>
              <a:t>item_name</a:t>
            </a:r>
            <a:r>
              <a:rPr lang="en-GB" dirty="0"/>
              <a:t>, price</a:t>
            </a:r>
          </a:p>
          <a:p>
            <a:pPr marL="0" indent="0">
              <a:buNone/>
            </a:pPr>
            <a:r>
              <a:rPr lang="en-GB" dirty="0"/>
              <a:t>FROM </a:t>
            </a:r>
            <a:r>
              <a:rPr lang="en-GB" dirty="0" err="1"/>
              <a:t>menu_items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ORDER BY price </a:t>
            </a:r>
          </a:p>
          <a:p>
            <a:pPr marL="0" indent="0">
              <a:buNone/>
            </a:pPr>
            <a:r>
              <a:rPr lang="en-GB" dirty="0"/>
              <a:t>LIMIT 1</a:t>
            </a:r>
          </a:p>
          <a:p>
            <a:pPr marL="0" indent="0">
              <a:buNone/>
            </a:pPr>
            <a:endParaRPr lang="en-GB" dirty="0"/>
          </a:p>
          <a:p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15557FE-907C-45D5-847F-8D18EA2BBB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5277" y="5014852"/>
            <a:ext cx="2509036" cy="5096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4AF2421-07CE-41D6-AC3F-060497128C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6329" y="4938652"/>
            <a:ext cx="2657772" cy="542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6453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550B1-126F-46DE-8A80-1F841321C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3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C19D62-982F-4D1F-8E54-8382C2A49D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4600" y="1647825"/>
            <a:ext cx="8990012" cy="4829175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GB" dirty="0"/>
              <a:t>--3. How many Italian dishes are on the menu? What are the least and most expensive Italian dishes on the menu?</a:t>
            </a:r>
          </a:p>
          <a:p>
            <a:pPr marL="0" indent="0">
              <a:buNone/>
            </a:pPr>
            <a:r>
              <a:rPr lang="en-GB" dirty="0"/>
              <a:t>SELECT COUNT(*) AS </a:t>
            </a:r>
            <a:r>
              <a:rPr lang="en-GB" dirty="0" err="1"/>
              <a:t>number_of_italian_dishes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FROM </a:t>
            </a:r>
            <a:r>
              <a:rPr lang="en-GB" dirty="0" err="1"/>
              <a:t>menu_items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WHERE category = 'Italian'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SELECT </a:t>
            </a:r>
            <a:r>
              <a:rPr lang="en-GB" dirty="0" err="1"/>
              <a:t>category,item_name</a:t>
            </a:r>
            <a:r>
              <a:rPr lang="en-GB" dirty="0"/>
              <a:t> AS </a:t>
            </a:r>
            <a:r>
              <a:rPr lang="en-GB" dirty="0" err="1"/>
              <a:t>most_italian_dish</a:t>
            </a:r>
            <a:r>
              <a:rPr lang="en-GB" dirty="0"/>
              <a:t>, price</a:t>
            </a:r>
          </a:p>
          <a:p>
            <a:pPr marL="0" indent="0">
              <a:buNone/>
            </a:pPr>
            <a:r>
              <a:rPr lang="en-GB" dirty="0"/>
              <a:t>FROM </a:t>
            </a:r>
            <a:r>
              <a:rPr lang="en-GB" dirty="0" err="1"/>
              <a:t>menu_items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WHERE category = 'Italian'</a:t>
            </a:r>
          </a:p>
          <a:p>
            <a:pPr marL="0" indent="0">
              <a:buNone/>
            </a:pPr>
            <a:r>
              <a:rPr lang="en-GB" dirty="0"/>
              <a:t>ORDER BY price DESC</a:t>
            </a:r>
          </a:p>
          <a:p>
            <a:pPr marL="0" indent="0">
              <a:buNone/>
            </a:pPr>
            <a:r>
              <a:rPr lang="en-GB" dirty="0"/>
              <a:t>LIMIT 1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SELECT </a:t>
            </a:r>
            <a:r>
              <a:rPr lang="en-GB" dirty="0" err="1"/>
              <a:t>category,item_name</a:t>
            </a:r>
            <a:r>
              <a:rPr lang="en-GB" dirty="0"/>
              <a:t> AS </a:t>
            </a:r>
            <a:r>
              <a:rPr lang="en-GB" dirty="0" err="1"/>
              <a:t>least_italian_dish</a:t>
            </a:r>
            <a:r>
              <a:rPr lang="en-GB" dirty="0"/>
              <a:t>, price</a:t>
            </a:r>
          </a:p>
          <a:p>
            <a:pPr marL="0" indent="0">
              <a:buNone/>
            </a:pPr>
            <a:r>
              <a:rPr lang="en-GB" dirty="0"/>
              <a:t>FROM </a:t>
            </a:r>
            <a:r>
              <a:rPr lang="en-GB" dirty="0" err="1"/>
              <a:t>menu_items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WHERE category = 'Italian'</a:t>
            </a:r>
          </a:p>
          <a:p>
            <a:pPr marL="0" indent="0">
              <a:buNone/>
            </a:pPr>
            <a:r>
              <a:rPr lang="en-GB" dirty="0"/>
              <a:t>ORDER BY price</a:t>
            </a:r>
          </a:p>
          <a:p>
            <a:pPr marL="0" indent="0">
              <a:buNone/>
            </a:pPr>
            <a:r>
              <a:rPr lang="en-GB" dirty="0"/>
              <a:t>LIMIT 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87FE1D-E57C-4278-B658-385003397B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2427" y="5238750"/>
            <a:ext cx="3501850" cy="6286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47085A8-BF67-45C1-859B-237CB36C70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2427" y="2108464"/>
            <a:ext cx="2467423" cy="6871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92B8110-369F-4D3F-9B3B-15B42F6C60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2427" y="3429000"/>
            <a:ext cx="3923445" cy="585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9532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51910-E577-4819-977F-1D2C85C27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4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75A8D-ACF9-4A13-B35D-65C496262D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42481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--4. How many dishes are in each category? What is the average dish price within each category?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SELECT category, COUNT(*) AS </a:t>
            </a:r>
            <a:r>
              <a:rPr lang="en-GB" dirty="0" err="1"/>
              <a:t>dishes_count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FROM </a:t>
            </a:r>
            <a:r>
              <a:rPr lang="en-GB" dirty="0" err="1"/>
              <a:t>menu_items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GROUP BY category 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SELECT category, ROUND(AVG(price),2) AS </a:t>
            </a:r>
            <a:r>
              <a:rPr lang="en-GB" dirty="0" err="1"/>
              <a:t>average_price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FROM </a:t>
            </a:r>
            <a:r>
              <a:rPr lang="en-GB" dirty="0" err="1"/>
              <a:t>menu_items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GROUP BY category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264000-FF5A-42AE-B6F9-6ADF3C054B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3566" y="3290752"/>
            <a:ext cx="2491777" cy="11478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DF13620-CD27-42A8-947C-46683AA6EB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3566" y="5159110"/>
            <a:ext cx="2653010" cy="1222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7911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99B2E-B6C6-46F5-B663-F3C5D6D35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5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3130CC-71DB-4475-A1F4-DA96521DF8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--5. View the </a:t>
            </a:r>
            <a:r>
              <a:rPr lang="en-GB" dirty="0" err="1"/>
              <a:t>order_details</a:t>
            </a:r>
            <a:r>
              <a:rPr lang="en-GB" dirty="0"/>
              <a:t> table. What is the date range of the table?</a:t>
            </a:r>
          </a:p>
          <a:p>
            <a:pPr marL="0" indent="0">
              <a:buNone/>
            </a:pPr>
            <a:r>
              <a:rPr lang="en-GB" dirty="0"/>
              <a:t>SELECT * FROM </a:t>
            </a:r>
            <a:r>
              <a:rPr lang="en-GB" dirty="0" err="1"/>
              <a:t>order_details</a:t>
            </a:r>
            <a:endParaRPr lang="en-GB" dirty="0"/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SELECT</a:t>
            </a:r>
          </a:p>
          <a:p>
            <a:pPr marL="0" indent="0">
              <a:buNone/>
            </a:pPr>
            <a:r>
              <a:rPr lang="en-GB" dirty="0"/>
              <a:t>    MIN(</a:t>
            </a:r>
            <a:r>
              <a:rPr lang="en-GB" dirty="0" err="1"/>
              <a:t>order_date</a:t>
            </a:r>
            <a:r>
              <a:rPr lang="en-GB" dirty="0"/>
              <a:t>) AS </a:t>
            </a:r>
            <a:r>
              <a:rPr lang="en-GB" dirty="0" err="1"/>
              <a:t>earliest_date</a:t>
            </a:r>
            <a:r>
              <a:rPr lang="en-GB" dirty="0"/>
              <a:t>,</a:t>
            </a:r>
          </a:p>
          <a:p>
            <a:pPr marL="0" indent="0">
              <a:buNone/>
            </a:pPr>
            <a:r>
              <a:rPr lang="en-GB" dirty="0"/>
              <a:t>    MAX(</a:t>
            </a:r>
            <a:r>
              <a:rPr lang="en-GB" dirty="0" err="1"/>
              <a:t>order_date</a:t>
            </a:r>
            <a:r>
              <a:rPr lang="en-GB" dirty="0"/>
              <a:t>) AS </a:t>
            </a:r>
            <a:r>
              <a:rPr lang="en-GB" dirty="0" err="1"/>
              <a:t>latest_date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FROM</a:t>
            </a:r>
          </a:p>
          <a:p>
            <a:pPr marL="0" indent="0">
              <a:buNone/>
            </a:pPr>
            <a:r>
              <a:rPr lang="en-GB" dirty="0"/>
              <a:t>    </a:t>
            </a:r>
            <a:r>
              <a:rPr lang="en-GB" dirty="0" err="1"/>
              <a:t>order_details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CC2318-51BE-403E-89D8-206E49FA42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017" y="4595750"/>
            <a:ext cx="3334215" cy="8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8909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E3E5C-57AA-418D-AB7B-DF27A91B3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6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4A3DE-E69E-49AE-A8C4-DAEDF0F113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4648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--6. How many orders were made within this date range? How many items were ordered within this date range?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SELECT COUNT (</a:t>
            </a:r>
            <a:r>
              <a:rPr lang="en-GB" dirty="0" err="1"/>
              <a:t>order_id</a:t>
            </a:r>
            <a:r>
              <a:rPr lang="en-GB" dirty="0"/>
              <a:t>) AS </a:t>
            </a:r>
            <a:r>
              <a:rPr lang="en-GB" dirty="0" err="1"/>
              <a:t>Number_of_orders</a:t>
            </a:r>
            <a:r>
              <a:rPr lang="en-GB" dirty="0"/>
              <a:t>, COUNT(</a:t>
            </a:r>
            <a:r>
              <a:rPr lang="en-GB" dirty="0" err="1"/>
              <a:t>item_id</a:t>
            </a:r>
            <a:r>
              <a:rPr lang="en-GB" dirty="0"/>
              <a:t>) AS </a:t>
            </a:r>
            <a:r>
              <a:rPr lang="en-GB" dirty="0" err="1"/>
              <a:t>items_ordered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FROM </a:t>
            </a:r>
            <a:r>
              <a:rPr lang="en-GB" dirty="0" err="1"/>
              <a:t>order_details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WHERE </a:t>
            </a:r>
            <a:r>
              <a:rPr lang="en-GB" dirty="0" err="1"/>
              <a:t>order_date</a:t>
            </a:r>
            <a:r>
              <a:rPr lang="en-GB" dirty="0"/>
              <a:t> BETWEEN '2023-01-01' AND '2023-03-31'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C77603-27E0-474B-AC18-3FD3D08E4F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3702" y="4967221"/>
            <a:ext cx="4077269" cy="943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8661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BBDD9-635A-43C3-AD69-DA65359E8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7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AC9887-020F-45CC-B519-2F6143806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--7. Which orders had the most number of items?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SELECT </a:t>
            </a:r>
            <a:r>
              <a:rPr lang="en-GB" dirty="0" err="1"/>
              <a:t>order_id</a:t>
            </a:r>
            <a:r>
              <a:rPr lang="en-GB" dirty="0"/>
              <a:t>,  COUNT(</a:t>
            </a:r>
            <a:r>
              <a:rPr lang="en-GB" dirty="0" err="1"/>
              <a:t>item_id</a:t>
            </a:r>
            <a:r>
              <a:rPr lang="en-GB" dirty="0"/>
              <a:t>) AS </a:t>
            </a:r>
            <a:r>
              <a:rPr lang="en-GB" dirty="0" err="1"/>
              <a:t>number_of_items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FROM </a:t>
            </a:r>
            <a:r>
              <a:rPr lang="en-GB" dirty="0" err="1"/>
              <a:t>order_details</a:t>
            </a:r>
            <a:r>
              <a:rPr lang="en-GB" dirty="0"/>
              <a:t> </a:t>
            </a:r>
          </a:p>
          <a:p>
            <a:pPr marL="0" indent="0">
              <a:buNone/>
            </a:pPr>
            <a:r>
              <a:rPr lang="en-GB" dirty="0"/>
              <a:t>GROUP BY </a:t>
            </a:r>
            <a:r>
              <a:rPr lang="en-GB" dirty="0" err="1"/>
              <a:t>order_id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ORDER BY COUNT(</a:t>
            </a:r>
            <a:r>
              <a:rPr lang="en-GB" dirty="0" err="1"/>
              <a:t>item_id</a:t>
            </a:r>
            <a:r>
              <a:rPr lang="en-GB" dirty="0"/>
              <a:t>) DESC</a:t>
            </a:r>
          </a:p>
          <a:p>
            <a:pPr marL="0" indent="0">
              <a:buNone/>
            </a:pPr>
            <a:r>
              <a:rPr lang="en-GB" dirty="0"/>
              <a:t>LIMIT 7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B4BC19B-46A7-4757-AB93-01BE811CA7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2669" y="4267200"/>
            <a:ext cx="1540119" cy="1355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4273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3EA11-28C0-42E7-8424-6A153A2D7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8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396CFC-64A0-4A14-BA3C-96CAA33821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--8. How many orders had more than 12 items?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SELECT COUNT (*) AS orders_more_than_12 </a:t>
            </a:r>
          </a:p>
          <a:p>
            <a:pPr marL="0" indent="0">
              <a:buNone/>
            </a:pPr>
            <a:r>
              <a:rPr lang="en-GB" dirty="0"/>
              <a:t>FROM (SELECT </a:t>
            </a:r>
            <a:r>
              <a:rPr lang="en-GB" dirty="0" err="1"/>
              <a:t>order_id</a:t>
            </a:r>
            <a:r>
              <a:rPr lang="en-GB" dirty="0"/>
              <a:t>, COUNT(</a:t>
            </a:r>
            <a:r>
              <a:rPr lang="en-GB" dirty="0" err="1"/>
              <a:t>item_id</a:t>
            </a:r>
            <a:r>
              <a:rPr lang="en-GB" dirty="0"/>
              <a:t>) AS </a:t>
            </a:r>
            <a:r>
              <a:rPr lang="en-GB" dirty="0" err="1"/>
              <a:t>number_of_items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FROM </a:t>
            </a:r>
            <a:r>
              <a:rPr lang="en-GB" dirty="0" err="1"/>
              <a:t>order_details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GROUP BY </a:t>
            </a:r>
            <a:r>
              <a:rPr lang="en-GB" dirty="0" err="1"/>
              <a:t>order_id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HAVING COUNT(</a:t>
            </a:r>
            <a:r>
              <a:rPr lang="en-GB" dirty="0" err="1"/>
              <a:t>item_id</a:t>
            </a:r>
            <a:r>
              <a:rPr lang="en-GB" dirty="0"/>
              <a:t>) &gt; 12)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43BD5A-8189-4A8B-8A26-2FD93459D1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8685" y="4810062"/>
            <a:ext cx="2724530" cy="89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2110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DB28F-6B6A-4820-8444-0C5EA5DA3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9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109C99-EFE0-4576-9CC9-DF88E73F71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--9. Combine the </a:t>
            </a:r>
            <a:r>
              <a:rPr lang="en-GB" dirty="0" err="1"/>
              <a:t>menu_items</a:t>
            </a:r>
            <a:r>
              <a:rPr lang="en-GB" dirty="0"/>
              <a:t> and </a:t>
            </a:r>
            <a:r>
              <a:rPr lang="en-GB" dirty="0" err="1"/>
              <a:t>order_details</a:t>
            </a:r>
            <a:r>
              <a:rPr lang="en-GB" dirty="0"/>
              <a:t> tables into a single table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SELECT * FROM </a:t>
            </a:r>
            <a:r>
              <a:rPr lang="en-GB" dirty="0" err="1"/>
              <a:t>order_details</a:t>
            </a:r>
            <a:r>
              <a:rPr lang="en-GB" dirty="0"/>
              <a:t> od</a:t>
            </a:r>
          </a:p>
          <a:p>
            <a:pPr marL="0" indent="0">
              <a:buNone/>
            </a:pPr>
            <a:r>
              <a:rPr lang="en-GB" dirty="0"/>
              <a:t>JOIN </a:t>
            </a:r>
            <a:r>
              <a:rPr lang="en-GB" dirty="0" err="1"/>
              <a:t>menu_items</a:t>
            </a:r>
            <a:r>
              <a:rPr lang="en-GB" dirty="0"/>
              <a:t> mi ON </a:t>
            </a:r>
            <a:r>
              <a:rPr lang="en-GB" dirty="0" err="1"/>
              <a:t>od.item_id</a:t>
            </a:r>
            <a:r>
              <a:rPr lang="en-GB" dirty="0"/>
              <a:t> = </a:t>
            </a:r>
            <a:r>
              <a:rPr lang="en-GB" dirty="0" err="1"/>
              <a:t>mi.menu_item_id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092236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3FC18-23E4-4960-A627-409329065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10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DF1D21-1BE5-4B9C-9D8B-3371FA833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GB" dirty="0"/>
              <a:t>10. What were the least and most ordered items? What categories were they in?</a:t>
            </a:r>
          </a:p>
          <a:p>
            <a:pPr marL="0" indent="0">
              <a:buNone/>
            </a:pPr>
            <a:r>
              <a:rPr lang="en-US" dirty="0"/>
              <a:t>--most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SELECT </a:t>
            </a:r>
            <a:r>
              <a:rPr lang="en-GB" dirty="0" err="1"/>
              <a:t>mi.category</a:t>
            </a:r>
            <a:r>
              <a:rPr lang="en-GB" dirty="0"/>
              <a:t>, </a:t>
            </a:r>
            <a:r>
              <a:rPr lang="en-GB" dirty="0" err="1"/>
              <a:t>mi.item_name</a:t>
            </a:r>
            <a:r>
              <a:rPr lang="en-GB" dirty="0"/>
              <a:t>, COUNT(DISTINCT </a:t>
            </a:r>
            <a:r>
              <a:rPr lang="en-GB" dirty="0" err="1"/>
              <a:t>order_id</a:t>
            </a:r>
            <a:r>
              <a:rPr lang="en-GB" dirty="0"/>
              <a:t>) AS </a:t>
            </a:r>
            <a:r>
              <a:rPr lang="en-GB" dirty="0" err="1"/>
              <a:t>Ordered_items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FROM </a:t>
            </a:r>
            <a:r>
              <a:rPr lang="en-GB" dirty="0" err="1"/>
              <a:t>order_details</a:t>
            </a:r>
            <a:r>
              <a:rPr lang="en-GB" dirty="0"/>
              <a:t> od</a:t>
            </a:r>
          </a:p>
          <a:p>
            <a:pPr marL="0" indent="0">
              <a:buNone/>
            </a:pPr>
            <a:r>
              <a:rPr lang="en-GB" dirty="0"/>
              <a:t>JOIN </a:t>
            </a:r>
            <a:r>
              <a:rPr lang="en-GB" dirty="0" err="1"/>
              <a:t>menu_items</a:t>
            </a:r>
            <a:r>
              <a:rPr lang="en-GB" dirty="0"/>
              <a:t> mi ON </a:t>
            </a:r>
            <a:r>
              <a:rPr lang="en-GB" dirty="0" err="1"/>
              <a:t>od.item_id</a:t>
            </a:r>
            <a:r>
              <a:rPr lang="en-GB" dirty="0"/>
              <a:t> = </a:t>
            </a:r>
            <a:r>
              <a:rPr lang="en-GB" dirty="0" err="1"/>
              <a:t>mi.menu_item_id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GROUP BY </a:t>
            </a:r>
            <a:r>
              <a:rPr lang="en-GB" dirty="0" err="1"/>
              <a:t>mi.category</a:t>
            </a:r>
            <a:r>
              <a:rPr lang="en-GB" dirty="0"/>
              <a:t>, </a:t>
            </a:r>
            <a:r>
              <a:rPr lang="en-GB" dirty="0" err="1"/>
              <a:t>mi.item_name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ORDER BY </a:t>
            </a:r>
            <a:r>
              <a:rPr lang="en-GB" dirty="0" err="1"/>
              <a:t>ordered_items</a:t>
            </a:r>
            <a:r>
              <a:rPr lang="en-GB" dirty="0"/>
              <a:t> DESC</a:t>
            </a:r>
          </a:p>
          <a:p>
            <a:pPr marL="0" indent="0">
              <a:buNone/>
            </a:pPr>
            <a:r>
              <a:rPr lang="en-GB" dirty="0"/>
              <a:t>LIMIT 1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--least</a:t>
            </a:r>
          </a:p>
          <a:p>
            <a:pPr marL="0" indent="0">
              <a:buNone/>
            </a:pPr>
            <a:r>
              <a:rPr lang="en-GB" dirty="0"/>
              <a:t>SELECT </a:t>
            </a:r>
            <a:r>
              <a:rPr lang="en-GB" dirty="0" err="1"/>
              <a:t>mi.category</a:t>
            </a:r>
            <a:r>
              <a:rPr lang="en-GB" dirty="0"/>
              <a:t>, </a:t>
            </a:r>
            <a:r>
              <a:rPr lang="en-GB" dirty="0" err="1"/>
              <a:t>mi.item_name</a:t>
            </a:r>
            <a:r>
              <a:rPr lang="en-GB" dirty="0"/>
              <a:t>, COUNT(DISTINCT </a:t>
            </a:r>
            <a:r>
              <a:rPr lang="en-GB" dirty="0" err="1"/>
              <a:t>order_id</a:t>
            </a:r>
            <a:r>
              <a:rPr lang="en-GB" dirty="0"/>
              <a:t>) AS </a:t>
            </a:r>
            <a:r>
              <a:rPr lang="en-GB" dirty="0" err="1"/>
              <a:t>Ordered_items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FROM </a:t>
            </a:r>
            <a:r>
              <a:rPr lang="en-GB" dirty="0" err="1"/>
              <a:t>order_details</a:t>
            </a:r>
            <a:r>
              <a:rPr lang="en-GB" dirty="0"/>
              <a:t> od</a:t>
            </a:r>
          </a:p>
          <a:p>
            <a:pPr marL="0" indent="0">
              <a:buNone/>
            </a:pPr>
            <a:r>
              <a:rPr lang="en-GB" dirty="0"/>
              <a:t>JOIN </a:t>
            </a:r>
            <a:r>
              <a:rPr lang="en-GB" dirty="0" err="1"/>
              <a:t>menu_items</a:t>
            </a:r>
            <a:r>
              <a:rPr lang="en-GB" dirty="0"/>
              <a:t> mi ON </a:t>
            </a:r>
            <a:r>
              <a:rPr lang="en-GB" dirty="0" err="1"/>
              <a:t>od.item_id</a:t>
            </a:r>
            <a:r>
              <a:rPr lang="en-GB" dirty="0"/>
              <a:t> = </a:t>
            </a:r>
            <a:r>
              <a:rPr lang="en-GB" dirty="0" err="1"/>
              <a:t>mi.menu_item_id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GROUP BY </a:t>
            </a:r>
            <a:r>
              <a:rPr lang="en-GB" dirty="0" err="1"/>
              <a:t>mi.category</a:t>
            </a:r>
            <a:r>
              <a:rPr lang="en-GB" dirty="0"/>
              <a:t>, </a:t>
            </a:r>
            <a:r>
              <a:rPr lang="en-GB" dirty="0" err="1"/>
              <a:t>mi.item_name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ORDER BY </a:t>
            </a:r>
            <a:r>
              <a:rPr lang="en-GB" dirty="0" err="1"/>
              <a:t>ordered_items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LIMIT 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9F86D0-1206-4AD3-8EC2-512377CF5B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2770" y="3319397"/>
            <a:ext cx="3258005" cy="4715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F9B0F7A-6252-4A2D-BBFC-525B1DF74A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293" y="5191063"/>
            <a:ext cx="3248482" cy="447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1758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7A054-C985-4A29-819F-F6988D204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11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E3AF5-EA4A-4D04-8E2C-CFF386B9DF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11.What were the top 5 orders that spent the most money?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SELECT </a:t>
            </a:r>
            <a:r>
              <a:rPr lang="en-GB" dirty="0" err="1"/>
              <a:t>od.order_id</a:t>
            </a:r>
            <a:r>
              <a:rPr lang="en-GB" dirty="0"/>
              <a:t>, SUM(price) AS </a:t>
            </a:r>
            <a:r>
              <a:rPr lang="en-GB" dirty="0" err="1"/>
              <a:t>most_spent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FROM </a:t>
            </a:r>
            <a:r>
              <a:rPr lang="en-GB" dirty="0" err="1"/>
              <a:t>order_details</a:t>
            </a:r>
            <a:r>
              <a:rPr lang="en-GB" dirty="0"/>
              <a:t> od JOIN </a:t>
            </a:r>
            <a:r>
              <a:rPr lang="en-GB" dirty="0" err="1"/>
              <a:t>menu_items</a:t>
            </a:r>
            <a:r>
              <a:rPr lang="en-GB" dirty="0"/>
              <a:t> mi ON </a:t>
            </a:r>
            <a:r>
              <a:rPr lang="en-GB" dirty="0" err="1"/>
              <a:t>mi.menu_item_id</a:t>
            </a:r>
            <a:r>
              <a:rPr lang="en-GB" dirty="0"/>
              <a:t> = </a:t>
            </a:r>
            <a:r>
              <a:rPr lang="en-GB" dirty="0" err="1"/>
              <a:t>od.item_id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GROUP BY </a:t>
            </a:r>
            <a:r>
              <a:rPr lang="en-GB" dirty="0" err="1"/>
              <a:t>od.order_id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ORDER BY SUM(price) DESC</a:t>
            </a:r>
          </a:p>
          <a:p>
            <a:pPr marL="0" indent="0">
              <a:buNone/>
            </a:pPr>
            <a:r>
              <a:rPr lang="en-GB" dirty="0"/>
              <a:t>LIMIT 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5CF9FD-A753-4434-A2F1-C95264B035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6824" y="4228935"/>
            <a:ext cx="2081426" cy="1608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7346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37FC8-070E-4784-8930-ABE38D50A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12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179858-D3A2-42C4-8E68-235D664270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GB" dirty="0"/>
              <a:t>--12. View the details of the highest spend order. Which specific items were purchased?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SELECT category, </a:t>
            </a:r>
            <a:r>
              <a:rPr lang="en-GB" dirty="0" err="1"/>
              <a:t>item_name</a:t>
            </a:r>
            <a:r>
              <a:rPr lang="en-GB" dirty="0"/>
              <a:t>, </a:t>
            </a:r>
            <a:r>
              <a:rPr lang="en-GB" dirty="0" err="1"/>
              <a:t>od.order_id</a:t>
            </a:r>
            <a:r>
              <a:rPr lang="en-GB" dirty="0"/>
              <a:t>, SUM(price) AS </a:t>
            </a:r>
            <a:r>
              <a:rPr lang="en-GB" dirty="0" err="1"/>
              <a:t>most_spent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FROM </a:t>
            </a:r>
            <a:r>
              <a:rPr lang="en-GB" dirty="0" err="1"/>
              <a:t>order_details</a:t>
            </a:r>
            <a:r>
              <a:rPr lang="en-GB" dirty="0"/>
              <a:t> od JOIN </a:t>
            </a:r>
            <a:r>
              <a:rPr lang="en-GB" dirty="0" err="1"/>
              <a:t>menu_items</a:t>
            </a:r>
            <a:r>
              <a:rPr lang="en-GB" dirty="0"/>
              <a:t> mi ON </a:t>
            </a:r>
            <a:r>
              <a:rPr lang="en-GB" dirty="0" err="1"/>
              <a:t>mi.menu_item_id</a:t>
            </a:r>
            <a:r>
              <a:rPr lang="en-GB" dirty="0"/>
              <a:t> = </a:t>
            </a:r>
            <a:r>
              <a:rPr lang="en-GB" dirty="0" err="1"/>
              <a:t>od.item_id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GROUP BY category, </a:t>
            </a:r>
            <a:r>
              <a:rPr lang="en-GB" dirty="0" err="1"/>
              <a:t>item_name</a:t>
            </a:r>
            <a:r>
              <a:rPr lang="en-GB" dirty="0"/>
              <a:t>, </a:t>
            </a:r>
            <a:r>
              <a:rPr lang="en-GB" dirty="0" err="1"/>
              <a:t>od.order_id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ORDER BY SUM(price) DESC</a:t>
            </a:r>
          </a:p>
          <a:p>
            <a:pPr marL="0" indent="0">
              <a:buNone/>
            </a:pPr>
            <a:r>
              <a:rPr lang="en-GB" dirty="0"/>
              <a:t>LIMIT 1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SELECT category, </a:t>
            </a:r>
            <a:r>
              <a:rPr lang="en-GB" dirty="0" err="1"/>
              <a:t>item_name</a:t>
            </a:r>
            <a:r>
              <a:rPr lang="en-GB" dirty="0"/>
              <a:t>, SUM(price) AS </a:t>
            </a:r>
            <a:r>
              <a:rPr lang="en-GB" dirty="0" err="1"/>
              <a:t>most_spent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FROM </a:t>
            </a:r>
            <a:r>
              <a:rPr lang="en-GB" dirty="0" err="1"/>
              <a:t>order_details</a:t>
            </a:r>
            <a:r>
              <a:rPr lang="en-GB" dirty="0"/>
              <a:t> od JOIN </a:t>
            </a:r>
            <a:r>
              <a:rPr lang="en-GB" dirty="0" err="1"/>
              <a:t>menu_items</a:t>
            </a:r>
            <a:r>
              <a:rPr lang="en-GB" dirty="0"/>
              <a:t> mi ON </a:t>
            </a:r>
            <a:r>
              <a:rPr lang="en-GB" dirty="0" err="1"/>
              <a:t>mi.menu_item_id</a:t>
            </a:r>
            <a:r>
              <a:rPr lang="en-GB" dirty="0"/>
              <a:t> = </a:t>
            </a:r>
            <a:r>
              <a:rPr lang="en-GB" dirty="0" err="1"/>
              <a:t>od.item_id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GROUP BY category, </a:t>
            </a:r>
            <a:r>
              <a:rPr lang="en-GB" dirty="0" err="1"/>
              <a:t>item_name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ORDER BY SUM(price) DESC</a:t>
            </a:r>
          </a:p>
          <a:p>
            <a:pPr marL="0" indent="0">
              <a:buNone/>
            </a:pPr>
            <a:r>
              <a:rPr lang="en-GB" dirty="0"/>
              <a:t>LIMIT 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C2FA3D-C512-4D1E-9138-9C346DDB85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2198" y="3565147"/>
            <a:ext cx="3681927" cy="4572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74A875E-FDFF-4CE4-8016-B695F7B66A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2198" y="4958557"/>
            <a:ext cx="3172268" cy="1181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7481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A67C3-2034-47DC-8A41-5ABA9196A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13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AF8B1-2CC3-43A1-BCD0-65A22F1E7D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--13. View the details of the top 5 highest spend orders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SELECT category, </a:t>
            </a:r>
            <a:r>
              <a:rPr lang="en-GB" dirty="0" err="1"/>
              <a:t>item_name</a:t>
            </a:r>
            <a:r>
              <a:rPr lang="en-GB" dirty="0"/>
              <a:t>, </a:t>
            </a:r>
            <a:r>
              <a:rPr lang="en-GB" dirty="0" err="1"/>
              <a:t>od.order_id</a:t>
            </a:r>
            <a:r>
              <a:rPr lang="en-GB" dirty="0"/>
              <a:t>, SUM(price) AS </a:t>
            </a:r>
            <a:r>
              <a:rPr lang="en-GB" dirty="0" err="1"/>
              <a:t>most_spent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FROM </a:t>
            </a:r>
            <a:r>
              <a:rPr lang="en-GB" dirty="0" err="1"/>
              <a:t>order_details</a:t>
            </a:r>
            <a:r>
              <a:rPr lang="en-GB" dirty="0"/>
              <a:t> od JOIN </a:t>
            </a:r>
            <a:r>
              <a:rPr lang="en-GB" dirty="0" err="1"/>
              <a:t>menu_items</a:t>
            </a:r>
            <a:r>
              <a:rPr lang="en-GB" dirty="0"/>
              <a:t> mi ON </a:t>
            </a:r>
            <a:r>
              <a:rPr lang="en-GB" dirty="0" err="1"/>
              <a:t>mi.menu_item_id</a:t>
            </a:r>
            <a:r>
              <a:rPr lang="en-GB" dirty="0"/>
              <a:t> = </a:t>
            </a:r>
            <a:r>
              <a:rPr lang="en-GB" dirty="0" err="1"/>
              <a:t>od.item_id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GROUP BY category, </a:t>
            </a:r>
            <a:r>
              <a:rPr lang="en-GB" dirty="0" err="1"/>
              <a:t>item_name</a:t>
            </a:r>
            <a:r>
              <a:rPr lang="en-GB" dirty="0"/>
              <a:t>, </a:t>
            </a:r>
            <a:r>
              <a:rPr lang="en-GB" dirty="0" err="1"/>
              <a:t>od.order_id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ORDER BY SUM(price) DESC</a:t>
            </a:r>
          </a:p>
          <a:p>
            <a:pPr marL="0" indent="0">
              <a:buNone/>
            </a:pPr>
            <a:r>
              <a:rPr lang="en-GB" dirty="0"/>
              <a:t>LIMIT 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0AE5CE-66DF-4F65-9CE5-0A440B4C5F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4406110"/>
            <a:ext cx="4749740" cy="1505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0915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757EF-58CD-42B4-856F-DF8C88C83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REPORTS &amp; INSIGHTS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FD6467-5AE0-465D-A151-37C6E62FCC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• Sales Summary Report:</a:t>
            </a:r>
          </a:p>
          <a:p>
            <a:pPr>
              <a:buFontTx/>
              <a:buChar char="-"/>
            </a:pPr>
            <a:r>
              <a:rPr lang="en-GB" dirty="0"/>
              <a:t>Total revenue, number of orders, average order value</a:t>
            </a:r>
          </a:p>
          <a:p>
            <a:pPr>
              <a:buFontTx/>
              <a:buChar char="-"/>
            </a:pPr>
            <a:endParaRPr lang="en-GB" dirty="0"/>
          </a:p>
          <a:p>
            <a:r>
              <a:rPr lang="en-GB" dirty="0"/>
              <a:t>• Customer Insights:</a:t>
            </a:r>
          </a:p>
          <a:p>
            <a:pPr marL="0" indent="0">
              <a:buNone/>
            </a:pPr>
            <a:r>
              <a:rPr lang="en-GB" dirty="0"/>
              <a:t> - Most frequent customers, high-value customers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• Popular Items:</a:t>
            </a:r>
          </a:p>
          <a:p>
            <a:pPr marL="0" indent="0">
              <a:buNone/>
            </a:pPr>
            <a:r>
              <a:rPr lang="en-GB" dirty="0"/>
              <a:t> - Most ordered dishes, seasonal trends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• Recommendations:</a:t>
            </a:r>
          </a:p>
          <a:p>
            <a:pPr marL="0" indent="0">
              <a:buNone/>
            </a:pPr>
            <a:r>
              <a:rPr lang="en-GB" dirty="0"/>
              <a:t>- Optimize menu pricing, target high-value customers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74637795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1363</TotalTime>
  <Words>1064</Words>
  <Application>Microsoft Office PowerPoint</Application>
  <PresentationFormat>Widescreen</PresentationFormat>
  <Paragraphs>148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Century Gothic</vt:lpstr>
      <vt:lpstr>Wingdings 3</vt:lpstr>
      <vt:lpstr>Wisp</vt:lpstr>
      <vt:lpstr>RESTAURANT SALES ANALYSIS</vt:lpstr>
      <vt:lpstr>INTRODUCTION</vt:lpstr>
      <vt:lpstr>QUESTION 1</vt:lpstr>
      <vt:lpstr>QUESTION 2</vt:lpstr>
      <vt:lpstr>QUESTION 3</vt:lpstr>
      <vt:lpstr>QUESTION 4</vt:lpstr>
      <vt:lpstr>QUESTION 5</vt:lpstr>
      <vt:lpstr>QUESTION 6</vt:lpstr>
      <vt:lpstr>QUESTION 7</vt:lpstr>
      <vt:lpstr>QUESTION 8</vt:lpstr>
      <vt:lpstr>QUESTION 9</vt:lpstr>
      <vt:lpstr>QUESTION 10</vt:lpstr>
      <vt:lpstr>QUESTION 11</vt:lpstr>
      <vt:lpstr>QUESTION 12</vt:lpstr>
      <vt:lpstr>QUESTION 13</vt:lpstr>
      <vt:lpstr>REPORTS &amp; INSIGHTS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RESTAURANT SALES ANALYSIS</dc:title>
  <dc:creator>user</dc:creator>
  <cp:lastModifiedBy>tina rufai</cp:lastModifiedBy>
  <cp:revision>11</cp:revision>
  <dcterms:created xsi:type="dcterms:W3CDTF">2025-02-26T10:58:09Z</dcterms:created>
  <dcterms:modified xsi:type="dcterms:W3CDTF">2026-07-25T17:30:03Z</dcterms:modified>
</cp:coreProperties>
</file>